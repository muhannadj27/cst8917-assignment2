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TODO: update with your student number and presentation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rules implemented twice — this is the constant across both versions; everything that follows compares HOW each platform expresses these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TODO: run all 6 scenarios from version-a-durable-functions/test-durable.http live, capture the terminal + Azure Portal orchestration status JSON for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TODO: deploy version-b-logic-apps, run infra/provision-service-bus.sh, run all 6 scenarios from test-expense.http, and paste run-history screenshots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six-dimension write-up (874 words) is in the repo README.md. This table is the visual summary for the talk track.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263-word recommendation is in README.md — this slide is the condensed verdict.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intentionally left for you to fill in after actually deploying and testing both versions — it should reflect real hands-on experience, not the AI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64F"/>
                </a:solidFill>
              </a:rPr>
              <a:t>Expense Approval Workflow</a:t>
            </a:r>
          </a:p>
          <a:p>
            <a:r>
              <a:rPr sz="2600">
                <a:solidFill>
                  <a:srgbClr val="2E86DE"/>
                </a:solidFill>
              </a:rPr>
              <a:t>Durable Functions vs. Logic Apps + Service Bus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A4A4A"/>
                </a:solidFill>
              </a:rPr>
              <a:t>Muhannad Jaber  |  CST8917 — Serverless Applications  |  Assignment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B264F"/>
                </a:solidFill>
              </a:rPr>
              <a:t>1. The Workflow &amp; Business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2011680" cy="38100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Input: employee name, email, amount, category, description, manager email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Validation: all fields required; category ∈ {travel, meals, supplies, equipment, software, other}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Auto-approve: amount &lt; $100 → approved immediately, no manager involved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Manager approval: amount ≥ $100 → system waits for a decision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Timeout: no manager response in time → auto-approved + flagged "escalated"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Notification: employee is emailed the final outcome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B264F"/>
                </a:solidFill>
              </a:rPr>
              <a:t>2. Version A — Durable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A4A4A"/>
                </a:solidFill>
              </a:rPr>
              <a:t>Code-first orchestration (Python v2 model)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2011680" cy="38100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submit_expense (HTTP) starts expense_orchestrator, returns status-check URLs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Orchestrator chains: validate_expense → auto_approve OR manager wait → send_notification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Human Interaction pattern: context.task_any([wait_for_external_event, create_timer])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manager_decision (HTTP) raises the "ManagerDecision" external event</a:t>
            </a:r>
          </a:p>
          <a:p>
            <a:pPr lvl="1">
              <a:spcAft>
                <a:spcPts val="1000"/>
              </a:spcAft>
            </a:pPr>
            <a:r>
              <a:rPr sz="1800">
                <a:solidFill>
                  <a:srgbClr val="4A4A4A"/>
                </a:solidFill>
              </a:rPr>
              <a:t>– Design decision: 5-min timeout for demo purposes; swap for hours/days in prod</a:t>
            </a:r>
          </a:p>
          <a:p>
            <a:pPr lvl="1">
              <a:spcAft>
                <a:spcPts val="1000"/>
              </a:spcAft>
            </a:pPr>
            <a:r>
              <a:rPr sz="1800">
                <a:solidFill>
                  <a:srgbClr val="4A4A4A"/>
                </a:solidFill>
              </a:rPr>
              <a:t>– Design decision: notifications logged, not emailed — one-line swap to a SendGrid binding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[ DEMO: insert screen recording / screenshots of test-durable.http scenarios 1-6 running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B264F"/>
                </a:solidFill>
              </a:rPr>
              <a:t>3. Version B — Logic Apps + Service Bus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A4A4A"/>
                </a:solidFill>
              </a:rPr>
              <a:t>Visual/declarative orchestration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2011680" cy="38100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Service Bus queue "expense-requests" → Logic App trigger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Logic App calls an Azure Function (validate_expense) for validation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Branch on amount; ≥$100 uses an HttpWebhook action to wait for manager decision</a:t>
            </a:r>
          </a:p>
          <a:p>
            <a:pPr lvl="1">
              <a:spcAft>
                <a:spcPts val="1000"/>
              </a:spcAft>
            </a:pPr>
            <a:r>
              <a:rPr sz="1800">
                <a:solidFill>
                  <a:srgbClr val="4A4A4A"/>
                </a:solidFill>
              </a:rPr>
              <a:t>– Design decision: HttpWebhook chosen over "Send approval email" — it supports a real timeout</a:t>
            </a:r>
          </a:p>
          <a:p>
            <a:pPr lvl="1">
              <a:spcAft>
                <a:spcPts val="1000"/>
              </a:spcAft>
            </a:pPr>
            <a:r>
              <a:rPr sz="1800">
                <a:solidFill>
                  <a:srgbClr val="4A4A4A"/>
                </a:solidFill>
              </a:rPr>
              <a:t>– Design decision: satellite Function (notify_manager_webhook) relays the Logic-App callback URL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Outcomes published to Service Bus topic "expense-outcomes" with 4 filtered subscriptions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Email sent via Office 365 Outlook connector for every terminal branch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[ DEMO: insert Logic App run history screenshots + emails received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B264F"/>
                </a:solidFill>
              </a:rPr>
              <a:t>4. Comparison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2011680" cy="38100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343400"/>
                <a:gridCol w="4343400"/>
              </a:tblGrid>
              <a:tr h="6400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1B26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Durable Functions</a:t>
                      </a:r>
                    </a:p>
                  </a:txBody>
                  <a:tcPr>
                    <a:solidFill>
                      <a:srgbClr val="1B26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Logic Apps + Service Bus</a:t>
                      </a:r>
                    </a:p>
                  </a:txBody>
                  <a:tcPr>
                    <a:solidFill>
                      <a:srgbClr val="1B264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Dev experience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Plain Python, real stack traces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Visual/JSON, verbose branch logic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Testability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Unit-testable activities/orchestrator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Needs live deployment to verify wiring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Error handling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try/except + RetryOptions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runAfter status branching + retry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Human interaction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First-class wait_for_external_event + timer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Repurposed HttpWebhook action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Observability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App Insights + custom status (assembled)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Built-in visual run trace (at a glance)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Cost @ 10k/day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~$5-10/month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4A4A4A"/>
                          </a:solidFill>
                        </a:defRPr>
                      </a:pPr>
                      <a:r>
                        <a:t>~$260-340/month (Service Bus + per-action billing)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B264F"/>
                </a:solidFill>
              </a:rPr>
              <a:t>5. 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2011680" cy="38100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Production default: Azure Durable Functions</a:t>
            </a:r>
          </a:p>
          <a:p>
            <a:pPr lvl="1">
              <a:spcAft>
                <a:spcPts val="1000"/>
              </a:spcAft>
            </a:pPr>
            <a:r>
              <a:rPr sz="1800">
                <a:solidFill>
                  <a:srgbClr val="4A4A4A"/>
                </a:solidFill>
              </a:rPr>
              <a:t>– First-class Human Interaction pattern — exactly what this workflow needs</a:t>
            </a:r>
          </a:p>
          <a:p>
            <a:pPr lvl="1">
              <a:spcAft>
                <a:spcPts val="1000"/>
              </a:spcAft>
            </a:pPr>
            <a:r>
              <a:rPr sz="1800">
                <a:solidFill>
                  <a:srgbClr val="4A4A4A"/>
                </a:solidFill>
              </a:rPr>
              <a:t>– Unit-testable without deploying anything</a:t>
            </a:r>
          </a:p>
          <a:p>
            <a:pPr lvl="1">
              <a:spcAft>
                <a:spcPts val="1000"/>
              </a:spcAft>
            </a:pPr>
            <a:r>
              <a:rPr sz="1800">
                <a:solidFill>
                  <a:srgbClr val="4A4A4A"/>
                </a:solidFill>
              </a:rPr>
              <a:t>– Cost scales sub-linearly (Consumption plan free-execution bundle)</a:t>
            </a:r>
          </a:p>
          <a:p>
            <a:pPr lvl="1">
              <a:spcAft>
                <a:spcPts val="1000"/>
              </a:spcAft>
            </a:pPr>
            <a:r>
              <a:rPr sz="1800">
                <a:solidFill>
                  <a:srgbClr val="4A4A4A"/>
                </a:solidFill>
              </a:rPr>
              <a:t>– ~$5-10/mo vs. ~$260-340/mo at 10,000 expenses/day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Choose Logic Apps + Service Bus instead when:</a:t>
            </a:r>
          </a:p>
          <a:p>
            <a:pPr lvl="1">
              <a:spcAft>
                <a:spcPts val="1000"/>
              </a:spcAft>
            </a:pPr>
            <a:r>
              <a:rPr sz="1800">
                <a:solidFill>
                  <a:srgbClr val="4A4A4A"/>
                </a:solidFill>
              </a:rPr>
              <a:t>– Team is integration/no-code first, or non-developers must read/edit the logic</a:t>
            </a:r>
          </a:p>
          <a:p>
            <a:pPr lvl="1">
              <a:spcAft>
                <a:spcPts val="1000"/>
              </a:spcAft>
            </a:pPr>
            <a:r>
              <a:rPr sz="1800">
                <a:solidFill>
                  <a:srgbClr val="4A4A4A"/>
                </a:solidFill>
              </a:rPr>
              <a:t>– Volume is low (&lt;~1,000 events/day) and connector breadth matters more than raw cost</a:t>
            </a:r>
          </a:p>
          <a:p>
            <a:pPr lvl="1">
              <a:spcAft>
                <a:spcPts val="1000"/>
              </a:spcAft>
            </a:pPr>
            <a:r>
              <a:rPr sz="1800">
                <a:solidFill>
                  <a:srgbClr val="4A4A4A"/>
                </a:solidFill>
              </a:rPr>
              <a:t>– Visual run history for non-technical stakeholders is a hard requirement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B264F"/>
                </a:solidFill>
              </a:rPr>
              <a:t>6. Lessons Learned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2011680" cy="38100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[ TODO: What surprised you while building/deploying? ]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[ TODO: Where did the two implementations diverge from your expectations? ]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[ TODO: What would you do differently next time? ]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4A4A4A"/>
                </a:solidFill>
              </a:rPr>
              <a:t>• [ TODO: Which platform would you reach for first on your next project, and why?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